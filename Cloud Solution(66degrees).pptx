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Singh" userId="90962f556d767baf" providerId="LiveId" clId="{B904B95A-CC0E-4494-95FE-E1D122EAA1C0}"/>
    <pc:docChg chg="modSld">
      <pc:chgData name="Aditya Singh" userId="90962f556d767baf" providerId="LiveId" clId="{B904B95A-CC0E-4494-95FE-E1D122EAA1C0}" dt="2026-02-25T20:50:28.371" v="0" actId="14100"/>
      <pc:docMkLst>
        <pc:docMk/>
      </pc:docMkLst>
      <pc:sldChg chg="modSp mod">
        <pc:chgData name="Aditya Singh" userId="90962f556d767baf" providerId="LiveId" clId="{B904B95A-CC0E-4494-95FE-E1D122EAA1C0}" dt="2026-02-25T20:50:28.371" v="0" actId="14100"/>
        <pc:sldMkLst>
          <pc:docMk/>
          <pc:sldMk cId="2515598254" sldId="258"/>
        </pc:sldMkLst>
        <pc:spChg chg="mod">
          <ac:chgData name="Aditya Singh" userId="90962f556d767baf" providerId="LiveId" clId="{B904B95A-CC0E-4494-95FE-E1D122EAA1C0}" dt="2026-02-25T20:50:28.371" v="0" actId="14100"/>
          <ac:spMkLst>
            <pc:docMk/>
            <pc:sldMk cId="2515598254" sldId="258"/>
            <ac:spMk id="2" creationId="{503213B0-52B0-6AF6-5420-F7A6B805E1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30F4-2DDC-011B-E044-FA36A5D33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E0742-2CA2-0B80-AB4A-C66F8D89A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CF128-845F-C8CB-B02C-13609E8B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4A1CE-3200-F1F1-82A7-4FBBB8C3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D10F2-1FD5-64DE-7DE5-B62C8D39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43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8043-61B0-1D89-802E-A02EC7BE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6C2F6-CB12-D29B-438D-C94397520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A119A-CD7C-B67D-927D-CE7AE8A3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7874E-3373-918A-236E-28E83272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5A2BF-5A74-09DD-6957-FB7B5B9D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2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9217-CF13-EA25-8A68-B2147219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A214B-B60B-B578-15CD-18C72630E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30B61-8192-E711-AB87-04E33D43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2D044-A878-E805-2FF6-47C7E173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7B5B4-CE3F-2B2D-4AFD-CAD41029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84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B520-AD82-38AD-2E74-A1BFAB64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8A225-4951-BD44-E94E-AC2E0E451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C33BB-CD57-B502-429C-639D3180B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C2283-591C-9033-52FC-2779421A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E69C1-C8F0-287B-EBA8-D5A69AA3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16DFC-E40C-2AC3-A519-397B0E92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34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8117-E908-5212-0FA5-7906BA0DC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C5AB3-2F21-6A75-3169-16B47CD7D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EE403-A4DD-A8A0-F287-1AA45BEE1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306FAE-3FD7-4ABE-CFFC-893C39749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44334A-223B-C123-54FA-0607441EF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E6491-007A-0ECF-329D-7FA278C4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B535F-378E-FBE4-61CD-8D57E0264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2E856-DC75-CD45-7DC6-8F38121D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74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4015-1F75-4193-3DEB-C1DAE7D2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8D284D-2AC9-D556-7858-724302080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FFF7F2-3488-4AD2-777E-874C14E7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B5E5A-A660-710B-102E-6DEF0D41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5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25D25-31EE-06CE-53DD-191B22F3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C7CE5-F1A0-2868-7DF7-E9AA15680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5E79F-AD25-84D2-3DB5-0061C625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1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2F789-FB35-3CBF-7723-BCA7AAA2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A925C-FFA7-EDB4-0A89-C95232FFC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56BE8-182A-697C-85CE-BB4A469F3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1AEE0-1ED5-2C60-B9E3-1D2ED4CBC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B857E-3A19-740C-FE7B-3DB121A7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7918F-F78F-EF43-16C7-A00B820B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36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5807-9024-1F66-7934-3FF3AA73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C213E-7582-EE76-6E52-6CF430B76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113C4-89EF-6996-598C-DA58240D5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3328D-8565-8CF0-DE74-96BE4ED5A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B3C19-0B47-62BB-56F9-04365D4D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C62EC-DE7F-3282-ADA9-C3F13C35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721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EA31-D538-BE20-B8EE-BA652549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906A7-19AF-C920-3462-569E4B4DC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E2CDE-666E-C081-04C1-59EAA386E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380CA-0CB7-E437-20F1-1EC519A6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4A94-F963-5992-3749-0C2E6D6A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35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01F87-92DB-CC97-B15F-2F4829ED0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694E6-AF2B-E61C-F962-E41B345F2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C505E-899B-2664-6F9B-F822FE6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0D5A3-3B0D-518A-BE40-625A2724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4D73C-EC4A-3ECB-E8E2-161C4C1F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89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3D6AD-9A68-FC53-4681-508E78080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BCC68-313E-5850-99B9-FA828B6D2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B6557-3B6B-CA0D-271C-8FD86B3AA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67932-F4F2-4032-8D73-946FD284E51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BFEF9-DAB5-8C8E-F45F-4CE9B82F6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CF995-F111-FFE5-38AA-D4B1580FA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6B9C0-9437-4610-BE43-ECE60D51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764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13B0-52B0-6AF6-5420-F7A6B805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8252"/>
          </a:xfrm>
        </p:spPr>
        <p:txBody>
          <a:bodyPr/>
          <a:lstStyle/>
          <a:p>
            <a:pPr algn="ctr"/>
            <a:r>
              <a:rPr lang="en-IN" dirty="0"/>
              <a:t>Cloud Solution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517BE-F659-ACEC-45C4-3D5C28DFDFED}"/>
              </a:ext>
            </a:extLst>
          </p:cNvPr>
          <p:cNvSpPr txBox="1"/>
          <p:nvPr/>
        </p:nvSpPr>
        <p:spPr>
          <a:xfrm>
            <a:off x="329609" y="1446028"/>
            <a:ext cx="11196084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dirty="0"/>
              <a:t>1. Solution Overview</a:t>
            </a:r>
          </a:p>
          <a:p>
            <a:pPr marL="0" indent="0">
              <a:buNone/>
            </a:pPr>
            <a:r>
              <a:rPr lang="en-IN" sz="1800" dirty="0"/>
              <a:t>We design a cloud-native, DAG-orchestrated pipeline using GCP services that automates:</a:t>
            </a:r>
          </a:p>
          <a:p>
            <a:r>
              <a:rPr lang="en-IN" sz="1800" dirty="0"/>
              <a:t>Data ingestion</a:t>
            </a:r>
          </a:p>
          <a:p>
            <a:r>
              <a:rPr lang="en-IN" sz="1800" dirty="0"/>
              <a:t>Data transformation &amp; </a:t>
            </a:r>
            <a:r>
              <a:rPr lang="en-IN" dirty="0"/>
              <a:t>l</a:t>
            </a:r>
            <a:r>
              <a:rPr lang="en-IN" sz="1800" dirty="0"/>
              <a:t>oading into tables</a:t>
            </a:r>
          </a:p>
          <a:p>
            <a:r>
              <a:rPr lang="en-IN" sz="1800" dirty="0"/>
              <a:t>Report generation</a:t>
            </a:r>
          </a:p>
          <a:p>
            <a:r>
              <a:rPr lang="en-IN" sz="1800" dirty="0"/>
              <a:t>Monitoring &amp; alerting</a:t>
            </a:r>
          </a:p>
          <a:p>
            <a:r>
              <a:rPr lang="en-IN" sz="1800" dirty="0"/>
              <a:t>The solution follows a Bronze – Silver - Gold architecture.</a:t>
            </a:r>
          </a:p>
          <a:p>
            <a:endParaRPr lang="en-IN" dirty="0"/>
          </a:p>
          <a:p>
            <a:r>
              <a:rPr lang="en-IN" b="1" dirty="0"/>
              <a:t>2. End-to-End Automated Flow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Orchestration</a:t>
            </a:r>
          </a:p>
          <a:p>
            <a:r>
              <a:rPr lang="en-IN" dirty="0"/>
              <a:t>       -  Cloud Composer manages the entire DAG workflow.</a:t>
            </a:r>
          </a:p>
          <a:p>
            <a:r>
              <a:rPr lang="en-IN" dirty="0"/>
              <a:t>       -  Tasks execute sequentially with dependencies.</a:t>
            </a:r>
          </a:p>
          <a:p>
            <a:r>
              <a:rPr lang="en-IN" dirty="0"/>
              <a:t>       -  Retries and failure policies are configured.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Data Ingestion</a:t>
            </a:r>
          </a:p>
          <a:p>
            <a:r>
              <a:rPr lang="en-IN" dirty="0"/>
              <a:t>       -  Composer triggers Cloud Function.</a:t>
            </a:r>
          </a:p>
          <a:p>
            <a:r>
              <a:rPr lang="en-IN" dirty="0"/>
              <a:t>       -  Cloud Function pulls data from Kaggle API.</a:t>
            </a:r>
          </a:p>
          <a:p>
            <a:r>
              <a:rPr lang="en-IN" dirty="0"/>
              <a:t>       -  Raw data stored in Cloud Storage (Bronze).</a:t>
            </a:r>
          </a:p>
          <a:p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15598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F7EFF4-2B05-3D69-AE1A-5A327EE78EEA}"/>
              </a:ext>
            </a:extLst>
          </p:cNvPr>
          <p:cNvSpPr txBox="1"/>
          <p:nvPr/>
        </p:nvSpPr>
        <p:spPr>
          <a:xfrm>
            <a:off x="404037" y="223284"/>
            <a:ext cx="1155759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Data Transformation and Loading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Composer triggers </a:t>
            </a:r>
            <a:r>
              <a:rPr lang="en-IN" dirty="0" err="1"/>
              <a:t>Dataproc</a:t>
            </a:r>
            <a:r>
              <a:rPr lang="en-IN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PySpark</a:t>
            </a:r>
            <a:endParaRPr lang="en-IN" dirty="0"/>
          </a:p>
          <a:p>
            <a:r>
              <a:rPr lang="en-IN" dirty="0"/>
              <a:t>       -  Cleans &amp; deduplicates data</a:t>
            </a:r>
          </a:p>
          <a:p>
            <a:r>
              <a:rPr lang="en-IN" dirty="0"/>
              <a:t>       -  Writes transformed data to Silver bucket</a:t>
            </a:r>
          </a:p>
          <a:p>
            <a:r>
              <a:rPr lang="en-IN" dirty="0"/>
              <a:t>       -  Loads data into </a:t>
            </a:r>
            <a:r>
              <a:rPr lang="en-IN" dirty="0" err="1"/>
              <a:t>BigQuery</a:t>
            </a:r>
            <a:r>
              <a:rPr lang="en-IN" dirty="0"/>
              <a:t> staging tables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Warehouse Loading</a:t>
            </a:r>
          </a:p>
          <a:p>
            <a:r>
              <a:rPr lang="en-US" dirty="0"/>
              <a:t>       -  </a:t>
            </a:r>
            <a:r>
              <a:rPr lang="en-US" dirty="0" err="1"/>
              <a:t>BigQuery</a:t>
            </a:r>
            <a:r>
              <a:rPr lang="en-US" dirty="0"/>
              <a:t> performs incremental MERGE into Gold tables.</a:t>
            </a:r>
          </a:p>
          <a:p>
            <a:r>
              <a:rPr lang="en-US" dirty="0"/>
              <a:t>       -  Fact and dimension tables updated.</a:t>
            </a:r>
          </a:p>
          <a:p>
            <a:endParaRPr lang="en-US" dirty="0"/>
          </a:p>
          <a:p>
            <a:r>
              <a:rPr lang="en-US" b="1" dirty="0"/>
              <a:t>4. Reporting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BigQuery</a:t>
            </a:r>
            <a:r>
              <a:rPr lang="en-US" dirty="0"/>
              <a:t> View created on Gold tables (Dim + Fact joins)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Looker connects to reporting view.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Dashboards auto-refresh as Gold tables update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IN" dirty="0"/>
              <a:t>5. </a:t>
            </a:r>
            <a:r>
              <a:rPr lang="en-IN" b="1" dirty="0"/>
              <a:t>Monitoring &amp; Logging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Cloud Logging</a:t>
            </a:r>
          </a:p>
          <a:p>
            <a:r>
              <a:rPr lang="en-US" dirty="0"/>
              <a:t>       -  Collects logs from Composer, Cloud Function, </a:t>
            </a:r>
            <a:r>
              <a:rPr lang="en-US" dirty="0" err="1"/>
              <a:t>Dataproc</a:t>
            </a:r>
            <a:r>
              <a:rPr lang="en-US" dirty="0"/>
              <a:t>, and </a:t>
            </a:r>
            <a:r>
              <a:rPr lang="en-US" dirty="0" err="1"/>
              <a:t>BigQuery</a:t>
            </a:r>
            <a:r>
              <a:rPr lang="en-US" dirty="0"/>
              <a:t>.</a:t>
            </a:r>
          </a:p>
          <a:p>
            <a:r>
              <a:rPr lang="en-US" dirty="0"/>
              <a:t>       -  </a:t>
            </a:r>
            <a:r>
              <a:rPr lang="en-IN" dirty="0"/>
              <a:t>Centralized troubleshooting.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Cloud Monitoring</a:t>
            </a:r>
          </a:p>
          <a:p>
            <a:r>
              <a:rPr lang="en-IN" dirty="0"/>
              <a:t>       -  </a:t>
            </a:r>
            <a:r>
              <a:rPr lang="en-US" dirty="0"/>
              <a:t>Tracks DAG failures, job failures, runtime metrics.</a:t>
            </a:r>
          </a:p>
          <a:p>
            <a:r>
              <a:rPr lang="en-US" dirty="0"/>
              <a:t>       -  Sends alerts (email/Slack) on failure.</a:t>
            </a:r>
            <a:endParaRPr lang="en-IN" dirty="0"/>
          </a:p>
          <a:p>
            <a:r>
              <a:rPr lang="en-IN" dirty="0"/>
              <a:t>The solution is fully automated via Cloud Composer(DAG)</a:t>
            </a:r>
          </a:p>
        </p:txBody>
      </p:sp>
    </p:spTree>
    <p:extLst>
      <p:ext uri="{BB962C8B-B14F-4D97-AF65-F5344CB8AC3E}">
        <p14:creationId xmlns:p14="http://schemas.microsoft.com/office/powerpoint/2010/main" val="1665471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AFBB-3D5D-24ED-7966-01A2415B4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Cloud Components Used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1E81FA3-92FD-3D60-D6B7-FDC218826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833011"/>
              </p:ext>
            </p:extLst>
          </p:nvPr>
        </p:nvGraphicFramePr>
        <p:xfrm>
          <a:off x="574158" y="1931951"/>
          <a:ext cx="10503195" cy="4775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7814">
                  <a:extLst>
                    <a:ext uri="{9D8B030D-6E8A-4147-A177-3AD203B41FA5}">
                      <a16:colId xmlns:a16="http://schemas.microsoft.com/office/drawing/2014/main" val="2004695794"/>
                    </a:ext>
                  </a:extLst>
                </a:gridCol>
                <a:gridCol w="5665381">
                  <a:extLst>
                    <a:ext uri="{9D8B030D-6E8A-4147-A177-3AD203B41FA5}">
                      <a16:colId xmlns:a16="http://schemas.microsoft.com/office/drawing/2014/main" val="4035972834"/>
                    </a:ext>
                  </a:extLst>
                </a:gridCol>
              </a:tblGrid>
              <a:tr h="477533">
                <a:tc>
                  <a:txBody>
                    <a:bodyPr/>
                    <a:lstStyle/>
                    <a:p>
                      <a:r>
                        <a:rPr lang="en-US" dirty="0"/>
                        <a:t>Cloud Component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 from GCP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390787"/>
                  </a:ext>
                </a:extLst>
              </a:tr>
              <a:tr h="477533">
                <a:tc>
                  <a:txBody>
                    <a:bodyPr/>
                    <a:lstStyle/>
                    <a:p>
                      <a:r>
                        <a:rPr lang="en-US" dirty="0"/>
                        <a:t>Orchestration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Composer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057861"/>
                  </a:ext>
                </a:extLst>
              </a:tr>
              <a:tr h="477533">
                <a:tc>
                  <a:txBody>
                    <a:bodyPr/>
                    <a:lstStyle/>
                    <a:p>
                      <a:r>
                        <a:rPr lang="en-US" dirty="0"/>
                        <a:t>Ingestion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Function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354240"/>
                  </a:ext>
                </a:extLst>
              </a:tr>
              <a:tr h="477533">
                <a:tc>
                  <a:txBody>
                    <a:bodyPr/>
                    <a:lstStyle/>
                    <a:p>
                      <a:r>
                        <a:rPr lang="en-US" dirty="0"/>
                        <a:t>Raw Data Storage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Google Cloud Storage (Bronze Layer)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9835"/>
                  </a:ext>
                </a:extLst>
              </a:tr>
              <a:tr h="477533">
                <a:tc>
                  <a:txBody>
                    <a:bodyPr/>
                    <a:lstStyle/>
                    <a:p>
                      <a:r>
                        <a:rPr lang="en-US" dirty="0"/>
                        <a:t>Data Processing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Dataproc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907923"/>
                  </a:ext>
                </a:extLst>
              </a:tr>
              <a:tr h="477533">
                <a:tc>
                  <a:txBody>
                    <a:bodyPr/>
                    <a:lstStyle/>
                    <a:p>
                      <a:r>
                        <a:rPr lang="en-US" dirty="0"/>
                        <a:t>Clean Layer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Google Cloud Storage (Silver Layer)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03457"/>
                  </a:ext>
                </a:extLst>
              </a:tr>
              <a:tr h="477533">
                <a:tc>
                  <a:txBody>
                    <a:bodyPr/>
                    <a:lstStyle/>
                    <a:p>
                      <a:r>
                        <a:rPr lang="en-US" dirty="0"/>
                        <a:t>Warehouse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BigQuery</a:t>
                      </a:r>
                      <a:r>
                        <a:rPr lang="en-US" dirty="0"/>
                        <a:t> (Staging + Gold Tables)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951774"/>
                  </a:ext>
                </a:extLst>
              </a:tr>
              <a:tr h="477533">
                <a:tc>
                  <a:txBody>
                    <a:bodyPr/>
                    <a:lstStyle/>
                    <a:p>
                      <a:r>
                        <a:rPr lang="en-US" dirty="0"/>
                        <a:t>Reporting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Looker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179715"/>
                  </a:ext>
                </a:extLst>
              </a:tr>
              <a:tr h="477533">
                <a:tc>
                  <a:txBody>
                    <a:bodyPr/>
                    <a:lstStyle/>
                    <a:p>
                      <a:r>
                        <a:rPr lang="en-US" dirty="0"/>
                        <a:t>Logging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Logging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33756"/>
                  </a:ext>
                </a:extLst>
              </a:tr>
              <a:tr h="477533">
                <a:tc>
                  <a:txBody>
                    <a:bodyPr/>
                    <a:lstStyle/>
                    <a:p>
                      <a:r>
                        <a:rPr lang="en-US" dirty="0"/>
                        <a:t>Monitoring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Monitoring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65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2ECD2-ABD5-B569-BD93-01A6A4E37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2828" y="0"/>
            <a:ext cx="7864549" cy="818707"/>
          </a:xfrm>
        </p:spPr>
        <p:txBody>
          <a:bodyPr>
            <a:normAutofit/>
          </a:bodyPr>
          <a:lstStyle/>
          <a:p>
            <a:r>
              <a:rPr lang="en-US" sz="4000" dirty="0"/>
              <a:t>Architecture Diagram</a:t>
            </a:r>
            <a:endParaRPr lang="en-IN" sz="4000" dirty="0"/>
          </a:p>
        </p:txBody>
      </p:sp>
      <p:pic>
        <p:nvPicPr>
          <p:cNvPr id="15" name="Picture 14" descr="A diagram of a software&#10;&#10;AI-generated content may be incorrect.">
            <a:extLst>
              <a:ext uri="{FF2B5EF4-FFF2-40B4-BE49-F238E27FC236}">
                <a16:creationId xmlns:a16="http://schemas.microsoft.com/office/drawing/2014/main" id="{D0643A4C-B89B-5152-4AF3-9CC40124F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177" y="1020725"/>
            <a:ext cx="7864549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96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306</Words>
  <Application>Microsoft Office PowerPoint</Application>
  <PresentationFormat>Widescreen</PresentationFormat>
  <Paragraphs>63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Cloud Solution Design</vt:lpstr>
      <vt:lpstr>PowerPoint Presentation</vt:lpstr>
      <vt:lpstr>Cloud Components Used</vt:lpstr>
      <vt:lpstr>Architecture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Singh</dc:creator>
  <cp:lastModifiedBy>Aditya Singh</cp:lastModifiedBy>
  <cp:revision>1</cp:revision>
  <dcterms:created xsi:type="dcterms:W3CDTF">2026-02-25T18:28:32Z</dcterms:created>
  <dcterms:modified xsi:type="dcterms:W3CDTF">2026-02-25T20:50:39Z</dcterms:modified>
</cp:coreProperties>
</file>